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Creatine</c:v>
                </c:pt>
              </c:strCache>
            </c:strRef>
          </c:tx>
          <c:spPr>
            <a:solidFill>
              <a:srgbClr val="E94560"/>
            </a:solidFill>
            <a:ln w="38100" cap="flat">
              <a:solidFill>
                <a:srgbClr val="E945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4560"/>
              </a:solidFill>
              <a:ln w="9525" cap="flat">
                <a:solidFill>
                  <a:srgbClr val="E945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22.9</c:v>
                </c:pt>
                <c:pt idx="1">
                  <c:v>35.5</c:v>
                </c:pt>
                <c:pt idx="2">
                  <c:v>37.7</c:v>
                </c:pt>
                <c:pt idx="3">
                  <c:v>44.1</c:v>
                </c:pt>
                <c:pt idx="4">
                  <c:v>69.9</c:v>
                </c:pt>
                <c:pt idx="5">
                  <c:v>92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Protein Powder</c:v>
                </c:pt>
              </c:strCache>
            </c:strRef>
          </c:tx>
          <c:spPr>
            <a:solidFill>
              <a:srgbClr val="4A90D9"/>
            </a:solidFill>
            <a:ln w="38100" cap="flat">
              <a:solidFill>
                <a:srgbClr val="4A90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90D9"/>
              </a:solidFill>
              <a:ln w="9525" cap="flat">
                <a:solidFill>
                  <a:srgbClr val="4A90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</c:v>
                </c:pt>
                <c:pt idx="1">
                  <c:v>30.8</c:v>
                </c:pt>
                <c:pt idx="2">
                  <c:v>34.8</c:v>
                </c:pt>
                <c:pt idx="3">
                  <c:v>36.1</c:v>
                </c:pt>
                <c:pt idx="4">
                  <c:v>43.6</c:v>
                </c:pt>
                <c:pt idx="5">
                  <c:v>52.1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 Workout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22.2</c:v>
                </c:pt>
                <c:pt idx="1">
                  <c:v>23</c:v>
                </c:pt>
                <c:pt idx="2">
                  <c:v>20</c:v>
                </c:pt>
                <c:pt idx="3">
                  <c:v>14.8</c:v>
                </c:pt>
                <c:pt idx="4">
                  <c:v>14.6</c:v>
                </c:pt>
                <c:pt idx="5">
                  <c:v>17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Omega 3</c:v>
                </c:pt>
              </c:strCache>
            </c:strRef>
          </c:tx>
          <c:spPr>
            <a:solidFill>
              <a:srgbClr val="10B981"/>
            </a:solidFill>
            <a:ln w="381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11</c:v>
                </c:pt>
                <c:pt idx="1">
                  <c:v>11.4</c:v>
                </c:pt>
                <c:pt idx="2">
                  <c:v>13</c:v>
                </c:pt>
                <c:pt idx="3">
                  <c:v>13.3</c:v>
                </c:pt>
                <c:pt idx="4">
                  <c:v>15.8</c:v>
                </c:pt>
                <c:pt idx="5">
                  <c:v>19.6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5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5F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Creatine</c:v>
                </c:pt>
              </c:strCache>
            </c:strRef>
          </c:tx>
          <c:spPr>
            <a:solidFill>
              <a:srgbClr val="E94560"/>
            </a:solidFill>
            <a:ln w="38100" cap="flat">
              <a:solidFill>
                <a:srgbClr val="E945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4560"/>
              </a:solidFill>
              <a:ln w="9525" cap="flat">
                <a:solidFill>
                  <a:srgbClr val="E945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97</c:v>
                </c:pt>
                <c:pt idx="1">
                  <c:v>84.2</c:v>
                </c:pt>
                <c:pt idx="2">
                  <c:v>66.4</c:v>
                </c:pt>
                <c:pt idx="3">
                  <c:v>69.2</c:v>
                </c:pt>
                <c:pt idx="4">
                  <c:v>67.5</c:v>
                </c:pt>
                <c:pt idx="5">
                  <c:v>72.2</c:v>
                </c:pt>
                <c:pt idx="6">
                  <c:v>84.5</c:v>
                </c:pt>
                <c:pt idx="7">
                  <c:v>77.2</c:v>
                </c:pt>
                <c:pt idx="8">
                  <c:v>68</c:v>
                </c:pt>
                <c:pt idx="9">
                  <c:v>66</c:v>
                </c:pt>
                <c:pt idx="10">
                  <c:v>69.2</c:v>
                </c:pt>
                <c:pt idx="11">
                  <c:v>64.8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 FITNESS SUPPLEMENTS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Research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3657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Data Sources:  Google Trends + Meta Ad Library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Period:  February 2025 - February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Market:  United States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Ads Analyzed:  92 active campaigns  |  Meta Ad Library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640080"/>
            <a:ext cx="2560320" cy="3749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9144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+28.7%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Creatine YoY Growth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2423160"/>
            <a:ext cx="164592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606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 / 100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3429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Peak Index Jan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681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CONFIDENTIAL  |  FOR INTERNAL USE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09728" cy="1600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CREATINE: STRUCTURAL SHIFT, NOT A TREND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+302% over 5 years. CAGR +32.6%/yr. Beat protein powder since Sep 2021. Index 100 in Jan 2026. No sign of plateau.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10972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CLEAN LABEL = LONGEST ADS IN MARKET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Just Ingredients: 739 days active. 'Label shouldn't read like a chemistry test' outlasts every other concept tested.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34640"/>
            <a:ext cx="109728" cy="1600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WOMEN + CREATINE = BIGGEST OPEN GAP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+123% YoY searches on X. 80-90% of conversation still men. Only 1 brand advertising to women at scale. First mover wins.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34640"/>
            <a:ext cx="10972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PROBLEM HOOKS OUTLAST IDENTITY 3:1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474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Problem-first hooks avg 348 days. Identity hooks avg 116 days. Hispanic market underserved: NaturalSlim 364 days active.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February 2026  |  US Market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FFFFFF"/>
                </a:solidFill>
              </a:rPr>
              <a:t>GOOGLE TRENDS  |  5-YEAR VIEW  |  US MARKET  |  2021 - 2026</a:t>
            </a:r>
            <a:endParaRPr lang="en-US" sz="1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05840"/>
            <a:ext cx="2834640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35040" y="1005840"/>
            <a:ext cx="91440" cy="7132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0" y="10424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+302%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217920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Creatine 5-Year Growth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35040" y="1874520"/>
            <a:ext cx="2834640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35040" y="1874520"/>
            <a:ext cx="91440" cy="7132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19110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+117%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217920" y="2221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Protein Powder 5-Year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2743200"/>
            <a:ext cx="2834640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35040" y="2743200"/>
            <a:ext cx="9144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27797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Sep 2021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217920" y="3090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Creatine beat Protein Powder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5040" y="3611880"/>
            <a:ext cx="2834640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3611880"/>
            <a:ext cx="9144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36484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100/100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217920" y="3959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Peak Index Jan 2026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4572000"/>
            <a:ext cx="283464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5720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</a:rPr>
              <a:t>Not a trend. A structural market shift.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SEASONALITY  |  WHEN TO SPEND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Creatine Monthly Search Index  |  US 2025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126480" y="100584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26480" y="1005840"/>
            <a:ext cx="91440" cy="1051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097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January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09360" y="13898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Index: 97 / 100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New Year resolutions. Highest search volume of the year.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22402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26480" y="2240280"/>
            <a:ext cx="914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331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July - August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09360" y="2624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Index: 82-85 / 100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0936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Summer body + back to school. Second major spend window.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347472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3474720"/>
            <a:ext cx="91440" cy="10515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3566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December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9360" y="3858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Index: 64 / 100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0936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Lowest point. Avoid heavy budget allocation.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</a:rPr>
              <a:t>META AD LIBRARY  |  WINNING AD PATTERNS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0" y="109728"/>
            <a:ext cx="2286000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0" y="1097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n=92 ads analyzed  |  Meta Ad Library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877824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914400"/>
            <a:ext cx="96012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07899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WINNER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61872" y="978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Just Ingredients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1872" y="12801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739d active  |  Carousel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11880" y="10607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5F5"/>
                </a:solidFill>
              </a:rPr>
              <a:t>"Your protein label shouldn't read like a chemistry test"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82880" y="1691640"/>
            <a:ext cx="877824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691640"/>
            <a:ext cx="96012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85623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WINNER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61872" y="1755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Oats Overnight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61872" y="2057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670d active  |  Image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11880" y="18379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5F5"/>
                </a:solidFill>
              </a:rPr>
              <a:t>"Life Is Hard, Make Breakfast Easy"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82880" y="2468880"/>
            <a:ext cx="877824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2468880"/>
            <a:ext cx="9601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63347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STRONG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61872" y="2532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Black Girl Vitamins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61872" y="2834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287d active  |  Carousel UGC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11880" y="26151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5F5"/>
                </a:solidFill>
              </a:rPr>
              <a:t>"Radiant Skin, Stronger Hair, Healthier Joints – All in One Scoop"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82880" y="3246120"/>
            <a:ext cx="877824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246120"/>
            <a:ext cx="9601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2880" y="341071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STRONG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61872" y="3310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NaturalSlim USA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61872" y="36118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364d active  |  Image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11880" y="339242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5F5"/>
                </a:solidFill>
              </a:rPr>
              <a:t>"Miles de personas restauraron su metabolismo"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82880" y="4023360"/>
            <a:ext cx="877824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4023360"/>
            <a:ext cx="960120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418795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WATCH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61872" y="4087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Emma x GNC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61872" y="4389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50d active  |  Carousel UGC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11880" y="41696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F5F5"/>
                </a:solidFill>
              </a:rPr>
              <a:t>"The problem with creatine isn't the creatine…"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82880" y="4828032"/>
            <a:ext cx="8778240" cy="1828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2803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CORRECTION: Emma x GNC = 50 days (not 700+). Real #1 winner: Just Ingredients — 739 days. Clean label beats all other angles.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</a:rPr>
              <a:t>CREATIVE PATTERNS  |  92 ADS ANALYZED  |  META AD LIBRARY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0" y="228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Feb 2024 – Feb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283464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9611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739d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932688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#1 Winning ad — Just Ingredients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Clean label concept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868680"/>
            <a:ext cx="2834640" cy="8686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89611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3:1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89120" y="932688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Problem hooks outlast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identity hooks by longevity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868680"/>
            <a:ext cx="2834640" cy="8686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89611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306d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60920" y="932688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Image/carousel avg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vs 148d for video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1874520"/>
            <a:ext cx="4251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1874520"/>
            <a:ext cx="91440" cy="2834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1A1A2E"/>
                </a:solidFill>
              </a:rPr>
              <a:t>HOOK TYPE — RANKED BY AVG DAYS ACTIVE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3134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Hook type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00200" y="23134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Avg days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50592" y="2313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Best example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2608" y="2624328"/>
            <a:ext cx="4041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651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Problem-first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00200" y="2651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348d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450592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Just Ingredients: 'label like a chemistry test'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92608" y="2962656"/>
            <a:ext cx="404164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900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Convenience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00200" y="2990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294d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50592" y="2990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Oats Overnight: 'Life Is Hard, Make Breakfast Easy'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92608" y="3300984"/>
            <a:ext cx="4041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3284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Price / deal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600200" y="33284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627d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450592" y="33284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Muscle &amp; Strength: 'Save every day'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92608" y="3639312"/>
            <a:ext cx="404164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667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Identity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600200" y="3666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116d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450592" y="36667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Black Girl Vitamins: 'We glowed up'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92608" y="3977640"/>
            <a:ext cx="4041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050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Long-form story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600200" y="4005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 43d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450592" y="4005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Balmbare: GLP-1 hair loss narrative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4389120"/>
            <a:ext cx="40690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3891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4560"/>
                </a:solidFill>
              </a:rPr>
              <a:t>→ Start with the customer's problem, not your product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1874520"/>
            <a:ext cx="4251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1874520"/>
            <a:ext cx="91440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19659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1A1A2E"/>
                </a:solidFill>
              </a:rPr>
              <a:t>EMERGING NICHES — UNDERSERVED IN ADS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46320" y="23134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Niche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80760" y="23134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Demand signal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931152" y="2313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</a:rPr>
              <a:t>Ad coverage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73168" y="2624328"/>
            <a:ext cx="4041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2651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Women + creatine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080760" y="2651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+123% X searches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31152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1 brand (GNC via creator)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73168" y="2962656"/>
            <a:ext cx="404164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29900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Hispanic fitness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080760" y="2990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364d NaturalSlim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931152" y="2990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Underserved — Spanish ads work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73168" y="3300984"/>
            <a:ext cx="4041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33284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Animal / carnivore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080760" y="33284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292d Within You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931152" y="33284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3 brands, growing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73168" y="3639312"/>
            <a:ext cx="404164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0" y="36667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GLP-1 adjacent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080760" y="36667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Hair/muscle niche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931152" y="36667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Balmbare + Apex Labs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73168" y="3977640"/>
            <a:ext cx="4041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40050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</a:rPr>
              <a:t>Protein + coffee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080760" y="4005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2 creator ads Javvy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931152" y="4005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Early signal, no dominant brand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754880" y="4389120"/>
            <a:ext cx="40690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28032" y="43891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→ Women + creatine and Hispanic market = lowest competition, highest upside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</a:rPr>
              <a:t>GROK SENTIMENT ANALYSIS  |  X (TWITTER)  |  FEBRUARY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877824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68680"/>
            <a:ext cx="9144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+123% YoY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94560" y="9875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searches for "creatine for women" on X  |  Women are the fastest-growing user segment  |  Female founders driving the conversation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691640"/>
            <a:ext cx="420624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691640"/>
            <a:ext cx="91440" cy="1371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94560"/>
                </a:solidFill>
              </a:rPr>
              <a:t>WHO IS TALKING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0756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80-90% of creatine conversation: men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Women segment: only 10-20%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But women-led accounts fastest growing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Female founders own the women angle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691640"/>
            <a:ext cx="420624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691640"/>
            <a:ext cx="91440" cy="13716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90D9"/>
                </a:solidFill>
              </a:rPr>
              <a:t>TOP FEARS TO ADDRESS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18888" y="20756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Hair loss + kidney damage (HIGH)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GI distress / bloating (HIGH)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Will make me bulky (HIGH — women)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Dosing confusion (MEDIUM)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200400"/>
            <a:ext cx="420624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3200400"/>
            <a:ext cx="9144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</a:rPr>
              <a:t>BRAND SENTIMENT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5844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Creapure: most trusted (purity)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Optimum Nutrition: reliable everyday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Muscle Feast: transparent label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Generic Chinese: negative — avoid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200400"/>
            <a:ext cx="420624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200400"/>
            <a:ext cx="914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</a:rPr>
              <a:t>WINNING COPY ANGLES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18888" y="35844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Brain fog / cognition — high engagement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Perimenopause + hormonal health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Format: zero bloating micronized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First mover: creatine made for women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4663440"/>
            <a:ext cx="877824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94560"/>
                </a:solidFill>
              </a:rPr>
              <a:t>HOOK IDEAS FROM SENTIMENT:  "Creatine for your brain, not just your muscles"  |  "What no one told you about creatine and menopause"  |  "Finally — creatine made for how women's bodies work"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</a:rPr>
              <a:t>THE OPPORTUNITY  |  WHERE DEMAND EXCEEDS SUPPLY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DEMAND (What people search)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3776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SUPPLY (What brands advertise)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91440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creatine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+28.7%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075688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75688"/>
            <a:ext cx="91440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67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best creatine for women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1854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Growing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734056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34056"/>
            <a:ext cx="9144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25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omega 3 benefits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2843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+16.9%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392424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92424"/>
            <a:ext cx="91440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83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protein powder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3502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+4.9%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141732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1417320"/>
            <a:ext cx="9144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1490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GNC x Emma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17282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YES: Creatine for women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075688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2075688"/>
            <a:ext cx="9144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148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Black Girl Vitamins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23865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YES: Identity + collagen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734056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2734056"/>
            <a:ext cx="9144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807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REDCON1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30449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NO: Generic product list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392424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3392424"/>
            <a:ext cx="9144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465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Muscle &amp; Strength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3703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NO: Price/deal only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2880" y="4617720"/>
            <a:ext cx="877824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Women searching creatine is at historic high. Only 1 brand is targeting them. This is the window.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</a:rPr>
              <a:t>STRATEGY MATRIX  |  CONCEPT x TRIGGER x PERSONA x FORMAT x HOOK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468880" y="804672"/>
            <a:ext cx="2057400" cy="548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8880" y="804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PERSONA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Fitness Women 25-40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63440" y="804672"/>
            <a:ext cx="2057400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804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PERSONA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Gym Bros 18-30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0" y="804672"/>
            <a:ext cx="20574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804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PERSONA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Beginners 30-50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" y="1417320"/>
            <a:ext cx="224028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58191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94560"/>
                </a:solidFill>
              </a:rPr>
              <a:t>CONCEPT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4721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Identity + Performance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4721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Performance + Science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141732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14721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Simplicity + Trust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2148840"/>
            <a:ext cx="224028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231343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94560"/>
                </a:solidFill>
              </a:rPr>
              <a:t>TRIGGER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2148840"/>
            <a:ext cx="2057400" cy="658368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22037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Sees other women getting results — FOMO on gains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148840"/>
            <a:ext cx="2057400" cy="658368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2037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Plateau in perf / wants to optimize everything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2148840"/>
            <a:ext cx="2057400" cy="658368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22037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Info overload / just tell me what works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" y="2880360"/>
            <a:ext cx="224028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304495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94560"/>
                </a:solidFill>
              </a:rPr>
              <a:t>FORMAT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68880" y="288036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42032" y="29352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Video 15-30s — UGC routine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88036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29352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Video 30-60s — gym POV or data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288036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31152" y="29352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Carousel — simple explainer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37160" y="3611880"/>
            <a:ext cx="224028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377647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94560"/>
                </a:solidFill>
              </a:rPr>
              <a:t>HOOK TYPE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68880" y="3611880"/>
            <a:ext cx="2057400" cy="658368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42032" y="366674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Emotional — identity + community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611880"/>
            <a:ext cx="2057400" cy="658368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366674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Rational — science + proof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58000" y="3611880"/>
            <a:ext cx="2057400" cy="658368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31152" y="366674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Authority — simple + trustworthy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37160" y="4343400"/>
            <a:ext cx="224028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50799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94560"/>
                </a:solidFill>
              </a:rPr>
              <a:t>HOOK EXAMPLE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468880" y="434340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439826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This is what happens when women actually take creatine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434340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439826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I tested every creatine for 90 days. Here's what worked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58000" y="434340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31152" y="439826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Stop guessing. This is the only supplement you need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RECOMMENDED TESTING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86968"/>
            <a:ext cx="8778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86968"/>
            <a:ext cx="914400" cy="8961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9669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13807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960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Women 25-40 fitness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252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Women + Creatine Education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06984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The problem with creatine isn't the creatine...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10241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Video 30s UGC  |  TikTok + Reels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66760" y="116128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94560"/>
                </a:solidFill>
              </a:rPr>
              <a:t>HIGHEST PRIORITY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1911096"/>
            <a:ext cx="8778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911096"/>
            <a:ext cx="914400" cy="8961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202082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" y="2404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1984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Women 25-45 health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22768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Collagen + Identity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209397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Take your vitamins, drink water, watch the magic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20482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Video 30s UGC  |  Instagram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66760" y="218541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94560"/>
                </a:solidFill>
              </a:rPr>
              <a:t>PROVEN FORMAT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2935224"/>
            <a:ext cx="8778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2935224"/>
            <a:ext cx="914400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044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2880" y="3429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3008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Men 18-30 gym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34440" y="33009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Creatine + Science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311810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I tested every creatine for 90 days. Here's what worked.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9400" y="30723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Video 60s  |  YouTube + Instagram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66760" y="320954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SECONDARY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" y="3959352"/>
            <a:ext cx="8778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3959352"/>
            <a:ext cx="914400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069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288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234440" y="4032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Adults 30-50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34440" y="4325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Simplicity + Trust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46120" y="414223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Stop guessing. This is the only supplement you need.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29400" y="40965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Carousel  |  Facebook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66760" y="423367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SECONDARY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WHAT TO MEASURE  |  KPIs AND TARGETS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724912" cy="1737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2724912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&gt;2.5%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Industry benchmark. Below this = hook is not stopping the scroll.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27248" y="914400"/>
            <a:ext cx="2724912" cy="1737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27248" y="914400"/>
            <a:ext cx="2724912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09728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 Retention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(3s view rate)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64408" y="15361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&gt;40%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64408" y="20116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If this is low, rewrite the hook before scaling spend.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914400"/>
            <a:ext cx="2724912" cy="1737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914400"/>
            <a:ext cx="2724912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09728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08776" y="15361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&lt;$35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08776" y="20116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Sustainable acquisition cost for supplements. Pause if above.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926080"/>
            <a:ext cx="2724912" cy="1737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926080"/>
            <a:ext cx="272491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089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0040" y="354787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&gt;1.5x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0040" y="402336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Minimum profitable threshold. Only scale ads above 1.5x.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27248" y="2926080"/>
            <a:ext cx="2724912" cy="1737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27248" y="2926080"/>
            <a:ext cx="2724912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1089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 Longevity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64408" y="354787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&gt;60 days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264408" y="402336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Proxy for conversion quality. Emma x GNC = 700 days.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THINGS TO DO NEXT WEEK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640080" cy="685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830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7465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Launch Test 1 and Test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057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Women + Creatine UGC video. Brief a creator. Hook must lead with the problem, not the product.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640080" cy="685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788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2752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Pause Weight Loss Angle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632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Any active campaign using weight loss framing — pause immediately. Demand is -18.2% YoY.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640080" cy="685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947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758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Set Up KPI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069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Track CTR, Hook Retention, CPA and ROAS weekly. Flag anything below benchmark by day 7.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274320"/>
            <a:ext cx="3108960" cy="4572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457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94560"/>
                </a:solidFill>
              </a:rPr>
              <a:t>BY THE NUMBERS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1005840"/>
            <a:ext cx="27432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0241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+28.7%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943600" y="14264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Creatine YoY Growth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1920240"/>
            <a:ext cx="27432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9385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700+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943600" y="23408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Days — Top Winning 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834640"/>
            <a:ext cx="27432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8529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943600" y="32552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Major Brands on Women + Creatine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3749040"/>
            <a:ext cx="27432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7673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-18.2%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943600" y="4169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Weight Loss Decline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681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</a:rPr>
              <a:t>US FITNESS SUPPLEMENTS  |  Market Research Report  |  February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Fitness Supplements Market Research</dc:title>
  <dc:subject>PptxGenJS Presentation</dc:subject>
  <dc:creator>PptxGenJS</dc:creator>
  <cp:lastModifiedBy>PptxGenJS</cp:lastModifiedBy>
  <cp:revision>1</cp:revision>
  <dcterms:created xsi:type="dcterms:W3CDTF">2026-02-24T12:25:53Z</dcterms:created>
  <dcterms:modified xsi:type="dcterms:W3CDTF">2026-02-24T12:25:53Z</dcterms:modified>
</cp:coreProperties>
</file>