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Index</c:v>
                </c:pt>
              </c:strCache>
            </c:strRef>
          </c:tx>
          <c:spPr>
            <a:solidFill>
              <a:srgbClr val="E9456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9456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A90D9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0B981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94A3B8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Creatine</c:v>
                  </c:pt>
                  <c:pt idx="1">
                    <c:v>Protein Powder</c:v>
                  </c:pt>
                  <c:pt idx="2">
                    <c:v>Omega 3</c:v>
                  </c:pt>
                  <c:pt idx="3">
                    <c:v>Pre Workout</c:v>
                  </c:pt>
                  <c:pt idx="4">
                    <c:v>Weight Loss Supps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73.8</c:v>
                </c:pt>
                <c:pt idx="1">
                  <c:v>44.4</c:v>
                </c:pt>
                <c:pt idx="2">
                  <c:v>16.4</c:v>
                </c:pt>
                <c:pt idx="3">
                  <c:v>14.7</c:v>
                </c:pt>
                <c:pt idx="4">
                  <c:v>2.5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5F5F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2D374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5F5F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6213E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Creatine</c:v>
                </c:pt>
              </c:strCache>
            </c:strRef>
          </c:tx>
          <c:spPr>
            <a:solidFill>
              <a:srgbClr val="E94560"/>
            </a:solidFill>
            <a:ln w="38100" cap="flat">
              <a:solidFill>
                <a:srgbClr val="E9456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94560"/>
              </a:solidFill>
              <a:ln w="9525" cap="flat">
                <a:solidFill>
                  <a:srgbClr val="E9456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97</c:v>
                </c:pt>
                <c:pt idx="1">
                  <c:v>84.2</c:v>
                </c:pt>
                <c:pt idx="2">
                  <c:v>66.4</c:v>
                </c:pt>
                <c:pt idx="3">
                  <c:v>69.2</c:v>
                </c:pt>
                <c:pt idx="4">
                  <c:v>67.5</c:v>
                </c:pt>
                <c:pt idx="5">
                  <c:v>72.2</c:v>
                </c:pt>
                <c:pt idx="6">
                  <c:v>84.5</c:v>
                </c:pt>
                <c:pt idx="7">
                  <c:v>77.2</c:v>
                </c:pt>
                <c:pt idx="8">
                  <c:v>68</c:v>
                </c:pt>
                <c:pt idx="9">
                  <c:v>66</c:v>
                </c:pt>
                <c:pt idx="10">
                  <c:v>69.2</c:v>
                </c:pt>
                <c:pt idx="11">
                  <c:v>64.8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3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US FITNESS SUPPLEMENTS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E945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 Research Report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2240280"/>
            <a:ext cx="3657600" cy="3657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4231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</a:rPr>
              <a:t>Data Sources:  Google Trends + Meta Ad Library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</a:rPr>
              <a:t>Period:  February 2025 - February 2026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3063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</a:rPr>
              <a:t>Market:  United States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3832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</a:rPr>
              <a:t>Ads Analyzed:  8 active campaigns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640080"/>
            <a:ext cx="2560320" cy="374904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17920" y="91440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945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+28.7%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217920" y="19202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Creatine YoY Growth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675120" y="2423160"/>
            <a:ext cx="1645920" cy="36576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260604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 / 100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217920" y="34290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Peak Index Jan 2026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0" y="468172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</a:rPr>
              <a:t>CONFIDENTIAL  |  FOR INTERNAL USE ONLY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EXECUTIVE SUMMARY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1148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109728" cy="160020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18872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CREATINE IS #1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64592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+28.7% YoY. Hit index 100 in Jan 2026. Biggest opportunity in the category.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09160" y="1005840"/>
            <a:ext cx="41148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005840"/>
            <a:ext cx="109728" cy="160020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118872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WEIGHT LOSS IS DEAD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164592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-18.2% YoY. Market shifted from aesthetics to performance. Kill this angle.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2834640"/>
            <a:ext cx="41148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834640"/>
            <a:ext cx="109728" cy="16002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01752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WOMEN + CREATINE = GAP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2920" y="347472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700+ day winning ad targets women with creatine. Zero major brands filling this space.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09160" y="2834640"/>
            <a:ext cx="41148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2834640"/>
            <a:ext cx="109728" cy="1600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0" y="301752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UGC WINS LONGEVITY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937760" y="347472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Creator/UGC ads run 3x longer than brand ads. Identity hooks beat product hooks.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0" y="484632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February 2026  |  US Market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FFFFFF"/>
                </a:solidFill>
              </a:rPr>
              <a:t>GOOGLE TRENDS  |  US MARKET  |  Feb 2025 - Feb 2026</a:t>
            </a:r>
            <a:endParaRPr lang="en-US" sz="1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914400"/>
          <a:ext cx="530352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943600" y="1005840"/>
            <a:ext cx="2926080" cy="713232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943600" y="1005840"/>
            <a:ext cx="91440" cy="713232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126480" y="1042416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945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+28.7%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6126480" y="135331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Creatine YoY Growth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943600" y="1874520"/>
            <a:ext cx="2926080" cy="713232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943600" y="1874520"/>
            <a:ext cx="91440" cy="7132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126480" y="1911096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+16.9%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6126480" y="222199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Omega 3 YoY Growth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943600" y="2743200"/>
            <a:ext cx="2926080" cy="713232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943600" y="2743200"/>
            <a:ext cx="91440" cy="713232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126480" y="2779776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A90D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+4.9%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6126480" y="30906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Protein Powder YoY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943600" y="3611880"/>
            <a:ext cx="2926080" cy="713232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943600" y="3611880"/>
            <a:ext cx="91440" cy="71323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126480" y="3648456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4A3B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-18.2%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6126480" y="395935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Weight Loss YoY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5943600" y="4572000"/>
            <a:ext cx="2926080" cy="384048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943600" y="457200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Creatine hits 100/100 peak in January 2026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200" kern="0" dirty="0">
                <a:solidFill>
                  <a:srgbClr val="FFFFFF"/>
                </a:solidFill>
              </a:rPr>
              <a:t>SEASONALITY  |  WHEN TO SPEND</a:t>
            </a:r>
            <a:endParaRPr lang="en-US" sz="2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914400"/>
          <a:ext cx="54864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274320" y="44348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Creatine Monthly Search Index  |  US 2025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6126480" y="1005840"/>
            <a:ext cx="27432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126480" y="1005840"/>
            <a:ext cx="91440" cy="105156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309360" y="109728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January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309360" y="138988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94560"/>
                </a:solidFill>
              </a:rPr>
              <a:t>Index: 97 / 100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309360" y="16459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New Year resolutions. Highest search volume of the year.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126480" y="2240280"/>
            <a:ext cx="27432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126480" y="2240280"/>
            <a:ext cx="91440" cy="1051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309360" y="233172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July - August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309360" y="262432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Index: 82-85 / 100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309360" y="28803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Summer body + back to school. Second major spend window.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126480" y="3474720"/>
            <a:ext cx="27432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126480" y="3474720"/>
            <a:ext cx="91440" cy="105156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09360" y="356616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</a:rPr>
              <a:t>December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6309360" y="385876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4A3B8"/>
                </a:solidFill>
              </a:rPr>
              <a:t>Index: 64 / 100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309360" y="41148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Lowest point. Avoid heavy budget allocation.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FFFFFF"/>
                </a:solidFill>
              </a:rPr>
              <a:t>META AD LIBRARY  |  WINNING AD PATTERNS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82880" y="868680"/>
            <a:ext cx="8778240" cy="68580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" y="868680"/>
            <a:ext cx="1005840" cy="6858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105156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</a:rPr>
              <a:t>WINNER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325880" y="94183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Emma x GNC Live Well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25880" y="125272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700+ days active  |  Carousel UGC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0" y="1033272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5F5F5"/>
                </a:solidFill>
              </a:rPr>
              <a:t>The problem with creatine isn't the creatine...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82880" y="1673352"/>
            <a:ext cx="8778240" cy="68580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82880" y="1673352"/>
            <a:ext cx="1005840" cy="6858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2880" y="1856232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</a:rPr>
              <a:t>WINNER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325880" y="174650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Black Girl Vitamins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325880" y="20574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150+ days active  |  Video UGC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57600" y="1837944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5F5F5"/>
                </a:solidFill>
              </a:rPr>
              <a:t>Radiant Skin, Stronger Hair, Healthier Joints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82880" y="2478024"/>
            <a:ext cx="8778240" cy="68580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82880" y="2478024"/>
            <a:ext cx="1005840" cy="685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82880" y="2660904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</a:rPr>
              <a:t>STRONG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325880" y="255117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Oats Overnight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325880" y="286207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300+ days active  |  Image Brand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657600" y="2642616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5F5F5"/>
                </a:solidFill>
              </a:rPr>
              <a:t>Life Is Hard, Make Breakfast Easy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82880" y="3282696"/>
            <a:ext cx="8778240" cy="68580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82880" y="3282696"/>
            <a:ext cx="1005840" cy="68580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82880" y="3465576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</a:rPr>
              <a:t>TESTING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325880" y="335584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Muscle &amp; Strength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325880" y="366674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150 days active  |  Image Brand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657600" y="3447288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5F5F5"/>
                </a:solidFill>
              </a:rPr>
              <a:t>Save on workout supplements every day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182880" y="4087368"/>
            <a:ext cx="8778240" cy="68580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82880" y="4087368"/>
            <a:ext cx="1005840" cy="68580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82880" y="4270248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</a:rPr>
              <a:t>SHORT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325880" y="41605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REDCON1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325880" y="4471416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30 days active  |  Video Brand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657600" y="425196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5F5F5"/>
                </a:solidFill>
              </a:rPr>
              <a:t>Stop by your local Walmart and stock up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182880" y="4663440"/>
            <a:ext cx="8778240" cy="347472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" y="466344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KEY INSIGHT: The 700-day ad targets women + creatine. No major brand is doing this at scale.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FFFFFF"/>
                </a:solidFill>
              </a:rPr>
              <a:t>GROK SENTIMENT ANALYSIS  |  X (TWITTER)  |  FEBRUARY 2026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82880" y="868680"/>
            <a:ext cx="8778240" cy="64008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" y="868680"/>
            <a:ext cx="91440" cy="6400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144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+123% YoY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2194560" y="987552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</a:rPr>
              <a:t>searches for "creatine for women" on X  |  Women are the fastest-growing user segment  |  Female founders driving the conversation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82880" y="1691640"/>
            <a:ext cx="4206240" cy="137160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82880" y="1691640"/>
            <a:ext cx="91440" cy="137160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17830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94560"/>
                </a:solidFill>
              </a:rPr>
              <a:t>WHO IS TALKING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84048" y="2075688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5F5"/>
                </a:solidFill>
              </a:rPr>
              <a:t>80-90% of creatine conversation: men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5F5F5"/>
                </a:solidFill>
              </a:rPr>
              <a:t>Women segment: only 10-20%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5F5F5"/>
                </a:solidFill>
              </a:rPr>
              <a:t>But women-led accounts fastest growing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5F5F5"/>
                </a:solidFill>
              </a:rPr>
              <a:t>Female founders own the women angle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17720" y="1691640"/>
            <a:ext cx="4206240" cy="137160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17720" y="1691640"/>
            <a:ext cx="91440" cy="137160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18888" y="17830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4A90D9"/>
                </a:solidFill>
              </a:rPr>
              <a:t>TOP FEARS TO ADDRESS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18888" y="2075688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5F5"/>
                </a:solidFill>
              </a:rPr>
              <a:t>Hair loss + kidney damage (HIGH)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5F5F5"/>
                </a:solidFill>
              </a:rPr>
              <a:t>GI distress / bloating (HIGH)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5F5F5"/>
                </a:solidFill>
              </a:rPr>
              <a:t>Will make me bulky (HIGH — women)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5F5F5"/>
                </a:solidFill>
              </a:rPr>
              <a:t>Dosing confusion (MEDIUM)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82880" y="3200400"/>
            <a:ext cx="4206240" cy="137160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82880" y="3200400"/>
            <a:ext cx="91440" cy="13716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" y="32918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59E0B"/>
                </a:solidFill>
              </a:rPr>
              <a:t>BRAND SENTIMENT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84048" y="3584448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5F5"/>
                </a:solidFill>
              </a:rPr>
              <a:t>Creapure: most trusted (purity)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5F5F5"/>
                </a:solidFill>
              </a:rPr>
              <a:t>Optimum Nutrition: reliable everyday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5F5F5"/>
                </a:solidFill>
              </a:rPr>
              <a:t>Muscle Feast: transparent label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5F5F5"/>
                </a:solidFill>
              </a:rPr>
              <a:t>Generic Chinese: negative — avoid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17720" y="3200400"/>
            <a:ext cx="4206240" cy="137160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17720" y="3200400"/>
            <a:ext cx="91440" cy="13716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18888" y="32918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0B981"/>
                </a:solidFill>
              </a:rPr>
              <a:t>WINNING COPY ANGLES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18888" y="3584448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5F5"/>
                </a:solidFill>
              </a:rPr>
              <a:t>Brain fog / cognition — high engagement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5F5F5"/>
                </a:solidFill>
              </a:rPr>
              <a:t>Perimenopause + hormonal health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5F5F5"/>
                </a:solidFill>
              </a:rPr>
              <a:t>Format: zero bloating micronized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5F5F5"/>
                </a:solidFill>
              </a:rPr>
              <a:t>First mover: creatine made for women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82880" y="4663440"/>
            <a:ext cx="8778240" cy="347472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4663440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94560"/>
                </a:solidFill>
              </a:rPr>
              <a:t>HOOK IDEAS FROM SENTIMENT:  "Creatine for your brain, not just your muscles"  |  "What no one told you about creatine and menopause"  |  "Finally — creatine made for how women's bodies work"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FFFFFF"/>
                </a:solidFill>
              </a:rPr>
              <a:t>THE OPPORTUNITY  |  WHERE DEMAND EXCEEDS SUPPLY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74320" y="9144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DEMAND (What people search)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937760" y="9144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SUPPLY (What brands advertise)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417320"/>
            <a:ext cx="39319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417320"/>
            <a:ext cx="91440" cy="530352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50876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</a:rPr>
              <a:t>creatine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108960" y="152704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94560"/>
                </a:solidFill>
              </a:rPr>
              <a:t>+28.7%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2075688"/>
            <a:ext cx="39319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2075688"/>
            <a:ext cx="91440" cy="530352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16712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</a:rPr>
              <a:t>best creatine for women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108960" y="218541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94560"/>
                </a:solidFill>
              </a:rPr>
              <a:t>Growing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2734056"/>
            <a:ext cx="39319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734056"/>
            <a:ext cx="91440" cy="5303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82549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</a:rPr>
              <a:t>omega 3 benefits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108960" y="284378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0B981"/>
                </a:solidFill>
              </a:rPr>
              <a:t>+16.9%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74320" y="3392424"/>
            <a:ext cx="39319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3392424"/>
            <a:ext cx="91440" cy="530352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48386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</a:rPr>
              <a:t>protein powder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108960" y="350215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4A90D9"/>
                </a:solidFill>
              </a:rPr>
              <a:t>+4.9%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937760" y="1417320"/>
            <a:ext cx="39319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937760" y="1417320"/>
            <a:ext cx="91440" cy="5303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66360" y="149047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</a:rPr>
              <a:t>GNC x Emma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166360" y="172821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YES: Creatine for women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937760" y="2075688"/>
            <a:ext cx="39319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937760" y="2075688"/>
            <a:ext cx="91440" cy="5303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66360" y="214884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</a:rPr>
              <a:t>Black Girl Vitamins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166360" y="2386584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YES: Identity + collagen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937760" y="2734056"/>
            <a:ext cx="39319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937760" y="2734056"/>
            <a:ext cx="91440" cy="53035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66360" y="280720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</a:rPr>
              <a:t>REDCON1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166360" y="304495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NO: Generic product list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937760" y="3392424"/>
            <a:ext cx="39319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937760" y="3392424"/>
            <a:ext cx="91440" cy="53035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166360" y="346557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</a:rPr>
              <a:t>Muscle &amp; Strength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166360" y="370332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NO: Price/deal only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2880" y="4617720"/>
            <a:ext cx="8778240" cy="347472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74320" y="461772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94560"/>
                </a:solidFill>
              </a:rPr>
              <a:t>Women searching creatine is at historic high. Only 1 brand is targeting them. This is the window.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50" kern="0" dirty="0">
                <a:solidFill>
                  <a:srgbClr val="FFFFFF"/>
                </a:solidFill>
              </a:rPr>
              <a:t>STRATEGY MATRIX  |  CONCEPT x TRIGGER x PERSONA x FORMAT x HOOK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468880" y="804672"/>
            <a:ext cx="2057400" cy="54864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468880" y="804672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PERSONA 1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Fitness Women 25-40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663440" y="804672"/>
            <a:ext cx="2057400" cy="54864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63440" y="804672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PERSONA 2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Gym Bros 18-30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858000" y="804672"/>
            <a:ext cx="2057400" cy="5486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0" y="804672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PERSONA 3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Beginners 30-50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37160" y="1417320"/>
            <a:ext cx="2240280" cy="658368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2880" y="1581912"/>
            <a:ext cx="2148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50" kern="0" dirty="0">
                <a:solidFill>
                  <a:srgbClr val="E94560"/>
                </a:solidFill>
              </a:rPr>
              <a:t>CONCEPT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468880" y="1417320"/>
            <a:ext cx="2057400" cy="658368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42032" y="1472184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5F5"/>
                </a:solidFill>
              </a:rPr>
              <a:t>Identity + Performance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63440" y="1417320"/>
            <a:ext cx="2057400" cy="658368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36592" y="1472184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5F5"/>
                </a:solidFill>
              </a:rPr>
              <a:t>Performance + Science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858000" y="1417320"/>
            <a:ext cx="2057400" cy="658368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31152" y="1472184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5F5"/>
                </a:solidFill>
              </a:rPr>
              <a:t>Simplicity + Trust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37160" y="2148840"/>
            <a:ext cx="2240280" cy="658368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2880" y="2313432"/>
            <a:ext cx="2148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50" kern="0" dirty="0">
                <a:solidFill>
                  <a:srgbClr val="E94560"/>
                </a:solidFill>
              </a:rPr>
              <a:t>TRIGGER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468880" y="2148840"/>
            <a:ext cx="2057400" cy="658368"/>
          </a:xfrm>
          <a:prstGeom prst="rect">
            <a:avLst/>
          </a:prstGeom>
          <a:solidFill>
            <a:srgbClr val="0A2744"/>
          </a:solidFill>
          <a:ln w="12700">
            <a:solidFill>
              <a:srgbClr val="0A27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42032" y="2203704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5F5"/>
                </a:solidFill>
              </a:rPr>
              <a:t>Sees other women getting results — FOMO on gains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663440" y="2148840"/>
            <a:ext cx="2057400" cy="658368"/>
          </a:xfrm>
          <a:prstGeom prst="rect">
            <a:avLst/>
          </a:prstGeom>
          <a:solidFill>
            <a:srgbClr val="0A2744"/>
          </a:solidFill>
          <a:ln w="12700">
            <a:solidFill>
              <a:srgbClr val="0A27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36592" y="2203704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5F5"/>
                </a:solidFill>
              </a:rPr>
              <a:t>Plateau in perf / wants to optimize everything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858000" y="2148840"/>
            <a:ext cx="2057400" cy="658368"/>
          </a:xfrm>
          <a:prstGeom prst="rect">
            <a:avLst/>
          </a:prstGeom>
          <a:solidFill>
            <a:srgbClr val="0A2744"/>
          </a:solidFill>
          <a:ln w="12700">
            <a:solidFill>
              <a:srgbClr val="0A274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31152" y="2203704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5F5"/>
                </a:solidFill>
              </a:rPr>
              <a:t>Info overload / just tell me what works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37160" y="2880360"/>
            <a:ext cx="2240280" cy="658368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82880" y="3044952"/>
            <a:ext cx="2148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50" kern="0" dirty="0">
                <a:solidFill>
                  <a:srgbClr val="E94560"/>
                </a:solidFill>
              </a:rPr>
              <a:t>FORMAT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468880" y="2880360"/>
            <a:ext cx="2057400" cy="658368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542032" y="2935224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5F5"/>
                </a:solidFill>
              </a:rPr>
              <a:t>Video 15-30s — UGC routine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663440" y="2880360"/>
            <a:ext cx="2057400" cy="658368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36592" y="2935224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5F5"/>
                </a:solidFill>
              </a:rPr>
              <a:t>Video 30-60s — gym POV or data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858000" y="2880360"/>
            <a:ext cx="2057400" cy="658368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931152" y="2935224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5F5"/>
                </a:solidFill>
              </a:rPr>
              <a:t>Carousel — simple explainer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137160" y="3611880"/>
            <a:ext cx="2240280" cy="658368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82880" y="3776472"/>
            <a:ext cx="2148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50" kern="0" dirty="0">
                <a:solidFill>
                  <a:srgbClr val="E94560"/>
                </a:solidFill>
              </a:rPr>
              <a:t>HOOK TYPE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468880" y="3611880"/>
            <a:ext cx="2057400" cy="658368"/>
          </a:xfrm>
          <a:prstGeom prst="rect">
            <a:avLst/>
          </a:prstGeom>
          <a:solidFill>
            <a:srgbClr val="0A2744"/>
          </a:solidFill>
          <a:ln w="12700">
            <a:solidFill>
              <a:srgbClr val="0A274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542032" y="3666744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5F5"/>
                </a:solidFill>
              </a:rPr>
              <a:t>Emotional — identity + community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663440" y="3611880"/>
            <a:ext cx="2057400" cy="658368"/>
          </a:xfrm>
          <a:prstGeom prst="rect">
            <a:avLst/>
          </a:prstGeom>
          <a:solidFill>
            <a:srgbClr val="0A2744"/>
          </a:solidFill>
          <a:ln w="12700">
            <a:solidFill>
              <a:srgbClr val="0A274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36592" y="3666744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5F5"/>
                </a:solidFill>
              </a:rPr>
              <a:t>Rational — science + proof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858000" y="3611880"/>
            <a:ext cx="2057400" cy="658368"/>
          </a:xfrm>
          <a:prstGeom prst="rect">
            <a:avLst/>
          </a:prstGeom>
          <a:solidFill>
            <a:srgbClr val="0A2744"/>
          </a:solidFill>
          <a:ln w="12700">
            <a:solidFill>
              <a:srgbClr val="0A274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931152" y="3666744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5F5"/>
                </a:solidFill>
              </a:rPr>
              <a:t>Authority — simple + trustworthy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137160" y="4343400"/>
            <a:ext cx="2240280" cy="658368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82880" y="4507992"/>
            <a:ext cx="2148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50" kern="0" dirty="0">
                <a:solidFill>
                  <a:srgbClr val="E94560"/>
                </a:solidFill>
              </a:rPr>
              <a:t>HOOK EXAMPLE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2468880" y="4343400"/>
            <a:ext cx="2057400" cy="658368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542032" y="4398264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5F5"/>
                </a:solidFill>
              </a:rPr>
              <a:t>This is what happens when women actually take creatine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663440" y="4343400"/>
            <a:ext cx="2057400" cy="658368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736592" y="4398264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5F5"/>
                </a:solidFill>
              </a:rPr>
              <a:t>I tested every creatine for 90 days. Here's what worked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858000" y="4343400"/>
            <a:ext cx="2057400" cy="658368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931152" y="4398264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5F5"/>
                </a:solidFill>
              </a:rPr>
              <a:t>Stop guessing. This is the only supplement you need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200" kern="0" dirty="0">
                <a:solidFill>
                  <a:srgbClr val="FFFFFF"/>
                </a:solidFill>
              </a:rPr>
              <a:t>RECOMMENDED TESTING FRAMEWORK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82880" y="886968"/>
            <a:ext cx="877824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886968"/>
            <a:ext cx="914400" cy="896112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996696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TEST 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82880" y="138074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30%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234440" y="9601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Women 25-40 fitness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234440" y="12527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Women + Creatine Education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246120" y="1069848"/>
            <a:ext cx="3291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1A2E"/>
                </a:solidFill>
              </a:rPr>
              <a:t>The problem with creatine isn't the creatine...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629400" y="102412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Video 30s UGC  |  TikTok + Reels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366760" y="1161288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94560"/>
                </a:solidFill>
              </a:rPr>
              <a:t>HIGHEST PRIORITY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182880" y="1911096"/>
            <a:ext cx="877824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82880" y="1911096"/>
            <a:ext cx="914400" cy="896112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82880" y="2020824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TEST 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82880" y="240487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30%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234440" y="198424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Women 25-45 health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234440" y="227685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Collagen + Identity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246120" y="2093976"/>
            <a:ext cx="3291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1A2E"/>
                </a:solidFill>
              </a:rPr>
              <a:t>Take your vitamins, drink water, watch the magic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629400" y="2048256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Video 30s UGC  |  Instagram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366760" y="2185416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94560"/>
                </a:solidFill>
              </a:rPr>
              <a:t>PROVEN FORMAT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182880" y="2935224"/>
            <a:ext cx="877824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182880" y="2935224"/>
            <a:ext cx="914400" cy="89611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82880" y="3044952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TEST 3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82880" y="34290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20%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234440" y="300837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Men 18-30 gym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234440" y="330098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Creatine + Science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246120" y="3118104"/>
            <a:ext cx="3291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1A2E"/>
                </a:solidFill>
              </a:rPr>
              <a:t>I tested every creatine for 90 days. Here's what worked.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629400" y="3072384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Video 60s  |  YouTube + Instagram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366760" y="3209544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9E0B"/>
                </a:solidFill>
              </a:rPr>
              <a:t>SECONDARY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182880" y="3959352"/>
            <a:ext cx="877824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182880" y="3959352"/>
            <a:ext cx="914400" cy="89611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82880" y="40690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TEST 4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82880" y="44531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20%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234440" y="403250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Adults 30-50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234440" y="432511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Simplicity + Trust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246120" y="4142232"/>
            <a:ext cx="3291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1A2E"/>
                </a:solidFill>
              </a:rPr>
              <a:t>Stop guessing. This is the only supplement you need.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629400" y="409651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Carousel  |  Facebook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8366760" y="4233672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9E0B"/>
                </a:solidFill>
              </a:rPr>
              <a:t>SECONDARY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FFFFFF"/>
                </a:solidFill>
              </a:rPr>
              <a:t>WHAT TO MEASURE  |  KPIs AND TARGETS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82880" y="914400"/>
            <a:ext cx="2724912" cy="173736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914400"/>
            <a:ext cx="2724912" cy="109728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97280"/>
            <a:ext cx="24505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CTR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20040" y="1536192"/>
            <a:ext cx="2450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945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&gt;2.5%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20040" y="2011680"/>
            <a:ext cx="2450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Industry benchmark. Below this = hook is not stopping the scroll.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127248" y="914400"/>
            <a:ext cx="2724912" cy="173736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27248" y="914400"/>
            <a:ext cx="2724912" cy="10972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64408" y="1097280"/>
            <a:ext cx="24505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Hook Retention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(3s view rate)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264408" y="1536192"/>
            <a:ext cx="2450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A90D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&gt;40%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264408" y="2011680"/>
            <a:ext cx="2450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If this is low, rewrite the hook before scaling spend.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71616" y="914400"/>
            <a:ext cx="2724912" cy="173736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71616" y="914400"/>
            <a:ext cx="2724912" cy="1097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08776" y="1097280"/>
            <a:ext cx="24505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CPA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208776" y="1536192"/>
            <a:ext cx="2450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&lt;$35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208776" y="2011680"/>
            <a:ext cx="2450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Sustainable acquisition cost for supplements. Pause if above.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82880" y="2926080"/>
            <a:ext cx="2724912" cy="173736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82880" y="2926080"/>
            <a:ext cx="2724912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3108960"/>
            <a:ext cx="24505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ROAS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320040" y="3547872"/>
            <a:ext cx="2450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&gt;1.5x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320040" y="4023360"/>
            <a:ext cx="2450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Minimum profitable threshold. Only scale ads above 1.5x.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127248" y="2926080"/>
            <a:ext cx="2724912" cy="173736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127248" y="2926080"/>
            <a:ext cx="2724912" cy="10972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64408" y="3108960"/>
            <a:ext cx="24505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Ad Longevity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3264408" y="3547872"/>
            <a:ext cx="2450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A78B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&gt;60 days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3264408" y="4023360"/>
            <a:ext cx="2450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Proxy for conversion quality. Emma x GNC = 700 days.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THREE THINGS TO DO NEXT WEEK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691640"/>
            <a:ext cx="640080" cy="68580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78308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88720" y="174650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Launch Test 1 and Test 2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88720" y="205740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Women + Creatine UGC video. Brief a creator. Hook must lead with the problem, not the product.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697480"/>
            <a:ext cx="640080" cy="68580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78892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188720" y="275234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Pause Weight Loss Angle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88720" y="306324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Any active campaign using weight loss framing — pause immediately. Demand is -18.2% YoY.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3703320"/>
            <a:ext cx="640080" cy="68580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379476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188720" y="375818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Set Up KPI Dashboard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88720" y="406908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Track CTR, Hook Retention, CPA and ROAS weekly. Flag anything below benchmark by day 7.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760720" y="274320"/>
            <a:ext cx="3108960" cy="457200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760720" y="4572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E94560"/>
                </a:solidFill>
              </a:rPr>
              <a:t>BY THE NUMBERS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943600" y="1005840"/>
            <a:ext cx="2743200" cy="713232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0" y="1024128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945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+28.7%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5943600" y="142646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Creatine YoY Growth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943600" y="1920240"/>
            <a:ext cx="2743200" cy="713232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0" y="1938528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945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700+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5943600" y="234086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Days — Top Winning Ad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943600" y="2834640"/>
            <a:ext cx="2743200" cy="713232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0" y="2852928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945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5943600" y="325526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Major Brands on Women + Creatine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943600" y="3749040"/>
            <a:ext cx="2743200" cy="713232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43600" y="3767328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945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-18.2%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5943600" y="416966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Weight Loss Decline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0" y="468172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FFFFFF"/>
                </a:solidFill>
              </a:rPr>
              <a:t>US FITNESS SUPPLEMENTS  |  Market Research Report  |  February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 Fitness Supplements Market Research</dc:title>
  <dc:subject>PptxGenJS Presentation</dc:subject>
  <dc:creator>PptxGenJS</dc:creator>
  <cp:lastModifiedBy>PptxGenJS</cp:lastModifiedBy>
  <cp:revision>1</cp:revision>
  <dcterms:created xsi:type="dcterms:W3CDTF">2026-02-24T00:32:06Z</dcterms:created>
  <dcterms:modified xsi:type="dcterms:W3CDTF">2026-02-24T00:32:06Z</dcterms:modified>
</cp:coreProperties>
</file>